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C966C006-7583-A6E6-984B-51D34E8B72A0}">
          <p14:sldIdLst>
            <p14:sldId id="256"/>
          </p14:sldIdLst>
        </p14:section>
        <p14:section name="Introdução" id="{8CC3B648-56DC-0B4D-ECFE-3D55CAF181C0}">
          <p14:sldIdLst>
            <p14:sldId id="257"/>
            <p14:sldId id="258"/>
            <p14:sldId id="259"/>
          </p14:sldIdLst>
        </p14:section>
        <p14:section name="Fundamentação teórica" id="{DF19FAF6-471E-C71D-0695-BAB9981F8EE5}">
          <p14:sldIdLst>
            <p14:sldId id="260"/>
            <p14:sldId id="261"/>
          </p14:sldIdLst>
        </p14:section>
        <p14:section name="Metodologia" id="{86663172-B38F-0D32-D8A6-6A2B5CE1E622}">
          <p14:sldIdLst>
            <p14:sldId id="262"/>
            <p14:sldId id="263"/>
          </p14:sldIdLst>
        </p14:section>
        <p14:section name="Resultados e discussão" id="{1998EC3C-5A65-B1F2-1954-45327F996029}">
          <p14:sldIdLst>
            <p14:sldId id="264"/>
            <p14:sldId id="265"/>
            <p14:sldId id="266"/>
          </p14:sldIdLst>
        </p14:section>
        <p14:section name="Avaliação de impactos" id="{4AAA7308-281F-6E94-D58B-89FC14CEBCF2}">
          <p14:sldIdLst>
            <p14:sldId id="268"/>
          </p14:sldIdLst>
        </p14:section>
        <p14:section name="Conclusões e recomendações" id="{1BDC4C1D-2E84-79DB-A131-0E80F493A4E3}">
          <p14:sldIdLst>
            <p14:sldId id="269"/>
            <p14:sldId id="270"/>
          </p14:sldIdLst>
        </p14:section>
        <p14:section name="Referências e encerramento" id="{61145506-50F4-7558-3C27-57094248E0B8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747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2" d="100"/>
          <a:sy n="42" d="100"/>
        </p:scale>
        <p:origin x="315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56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segundos.
Apresente-se, identifique o orientador, o eixo temático e o título. Substitua todo o texto entre [parêntesis rectos] e apague a linha «Exemplo». Instruções gerais do modelo: (1) uma ideia por diapositivo; (2) texto com 24 pt e títulos maiores; (3) fundo branco no corpo; (4) máximo de 17 diapositivos para 15 minutos; (5) elimine as orientações e os exemplos antes de entregar; (6) entregue em PowerPoint ou PDF até 9 de Novembro de 2026, com o ficheiro identificado por Eixo_Modalidade_Apelido (ex.: Eixo1_Oral_Sonhi.pptx). Estrutura: segue a do resumo alargado.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segundos.
Parta do geral para o particular: cenário global, nacional e da Lunda Sul. Um dado concreto por nível, sempre com a fonte (Sobrenome, Ano). Justifique a importância do tema sem se alongar.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45 segundos.
Mostre as insuficiências e as suas consequências e explique como as identificou (métodos de investigação ou experiência de observação). O problema deriva directamente desta situação.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45 segundos.
O objectivo geral integra todos os específicos. Cada objectivo começa por um só verbo no infinitivo (Desenvolver, Avaliar, Implementar, Analisar…). As conclusões devem responder a cada objectivo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45 segundos.
Não faça um manual: inclua só o que será usado na resolução do problema. Argumente brevemente as escolhas (metodologia de engenharia, tecnologias, ferramentas). Cite correctamente para evitar o plágio.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45 segundos.
Mostre o que já foi feito, até onde chegaram os antecedentes e o que faltava resolver: é aqui que justifica a originalidade ou novidade do trabalho. Liste só as normas que realmente condicionam a metodologia e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minuto.
Descreva de forma clara e objectiva o que fez e com que meios. Nos estudos de caso e nos relatos de experiência pedagógica, descreva o caso ou a experiência e os instrumentos utilizados na sua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minuto.
Um fluxograma vale mais do que um parágrafo. Cada fase deve corresponder a um objectivo específico e preparar os resultados que vai apresentar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 e 30 segundos.
Um resultado por diapositivo, com figura legível. Numere e legende (Figura 1, Figura 2…) e comente o que o auditório deve ver. Não leia o que está escrito na figura.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 e 30 segundos.
Seleccione apenas os dados que sustentam as conclusões. Os restantes pertencem aos anexos do resumo alargado. Refira sempre a tabela no discurso.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minuto.
Esta é uma das partes mais valorizadas pelos avaliadores. Não basta obter bons resultados: demonstre que compreende o seu significado e que os relaciona com a literatura.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minuto.
Distinga com clareza o que o trabalho já demonstrou do que apenas se espera. Um trabalho que gera conhecimento aplicado sobre a viabilidade de uma solução num contexto específico é valioso: não é necessário apresentá-lo como novo conhecimento científico.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 e 30 segundos.
As conclusões respondem, uma a uma, aos objectivos específicos da Introdução. Não repita a metodologia nem descreva o que fez: diga o que ficou demonstrado.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minuto.
Proponha recomendações concretas, para investigação futura e para a aplicação prática dos resultados no Instituto Politécnico de Saurimo e em Angola.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15 segundos.
Mostre apenas as referências principais; a lista completa consta do resumo alargado. Todas as obras citadas no texto constam da lista e vice-versa.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15 segundos + 5 minutos de debate.
Agradeça e abra o debate. Prepare as respostas às perguntas mais prováveis sobre a metodologia, os resultados e os impactos.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71574"/>
            <a:ext cx="12191695" cy="438642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/home/claude/build/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391" y="62116"/>
            <a:ext cx="2367233" cy="21600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264795" y="2981781"/>
            <a:ext cx="6583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pic>
        <p:nvPicPr>
          <p:cNvPr id="5" name="Imagem 4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6" y="142834"/>
            <a:ext cx="2160000" cy="2160000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 userDrawn="1"/>
        </p:nvSpPr>
        <p:spPr>
          <a:xfrm>
            <a:off x="1985740" y="392291"/>
            <a:ext cx="7999156" cy="1149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pt-BR" sz="2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UNIVERSIDADE LUEJI A`NKONDE</a:t>
            </a:r>
            <a:endParaRPr lang="es-ES" sz="2000" dirty="0">
              <a:solidFill>
                <a:srgbClr val="1A1A1A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◊ Lunda Norte ◊ Lunda Sul ◊</a:t>
            </a:r>
            <a:endParaRPr lang="es-ES" sz="1800" dirty="0">
              <a:solidFill>
                <a:srgbClr val="1A1A1A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Instituto Politécnico da Universidade Lueji A`Nkonde</a:t>
            </a:r>
            <a:endParaRPr lang="es-ES" sz="2000" dirty="0"/>
          </a:p>
        </p:txBody>
      </p:sp>
      <p:graphicFrame>
        <p:nvGraphicFramePr>
          <p:cNvPr id="8" name="Tabela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4854702"/>
              </p:ext>
            </p:extLst>
          </p:nvPr>
        </p:nvGraphicFramePr>
        <p:xfrm>
          <a:off x="2319299" y="1710184"/>
          <a:ext cx="754205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3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JORNADAS TÉCNICO-CIENTÍFICAS DO </a:t>
                      </a:r>
                      <a:r>
                        <a:rPr lang="pt-PT" sz="16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IPS</a:t>
                      </a: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– EDIÇÃO 2026</a:t>
                      </a:r>
                      <a:endParaRPr lang="es-ES" sz="16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algn="ctr"/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FEIRA DE INOVAÇÃO TECNOLÓGICA – INOVA </a:t>
                      </a:r>
                      <a:r>
                        <a:rPr lang="pt-PT" sz="16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IPS</a:t>
                      </a:r>
                      <a:r>
                        <a:rPr lang="pt-PT" sz="16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2026</a:t>
                      </a:r>
                      <a:endParaRPr lang="es-ES" sz="16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lang="pt-PT" sz="16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IPS</a:t>
                      </a:r>
                      <a:endParaRPr lang="es-ES" sz="16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r>
                        <a:rPr lang="pt-PT" sz="11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26 – 27 </a:t>
                      </a:r>
                      <a:r>
                        <a:rPr lang="pt-PT" sz="11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Nov</a:t>
                      </a:r>
                      <a:r>
                        <a:rPr lang="pt-PT" sz="11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de 2026</a:t>
                      </a:r>
                      <a:endParaRPr lang="es-ES" sz="11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Saber para Construir e Investigar para Transformar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mauryperez66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78823" y="2612570"/>
            <a:ext cx="1141693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pt-PT"/>
              <a:t>TÍTULO RELACIONADO COM UM EIXO TEMÁTICO DA JORNADA, ESTRUTURADO RESPONDENDO AS PERGUNTAS: O QUE SE FAZ? SOBRE QUÊ? ONDE? COMO? OU COM QUE ALCANCE</a:t>
            </a:r>
            <a:endParaRPr lang="pt-PT" sz="2800" dirty="0"/>
          </a:p>
        </p:txBody>
      </p:sp>
      <p:sp>
        <p:nvSpPr>
          <p:cNvPr id="4" name="Exemplo de titulo"/>
          <p:cNvSpPr txBox="1"/>
          <p:nvPr/>
        </p:nvSpPr>
        <p:spPr>
          <a:xfrm>
            <a:off x="1645919" y="3820882"/>
            <a:ext cx="9718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[Exemplo: </a:t>
            </a:r>
          </a:p>
          <a:p>
            <a:r>
              <a:rPr lang="pt-PT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E ANÁLISE DE VIABILIDADE DE UM SISTEMA HÍBRIDO FOTOVOLTAICO-BIOMASSA PARA A </a:t>
            </a:r>
            <a:r>
              <a:rPr lang="pt-PT" sz="1400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ELECTRIFICAÇÃO</a:t>
            </a:r>
            <a:r>
              <a:rPr lang="pt-PT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COMUNIDADE A ESPERANÇA, LUNDA SUL</a:t>
            </a:r>
            <a:r>
              <a:rPr lang="pt-PT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pt-PT" sz="1400" dirty="0"/>
          </a:p>
        </p:txBody>
      </p:sp>
      <p:sp>
        <p:nvSpPr>
          <p:cNvPr id="5" name="Autores"/>
          <p:cNvSpPr txBox="1"/>
          <p:nvPr/>
        </p:nvSpPr>
        <p:spPr>
          <a:xfrm>
            <a:off x="365761" y="4271544"/>
            <a:ext cx="113777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Amaury Torres, 929313670, E-mail: </a:t>
            </a:r>
            <a:r>
              <a:rPr lang="pt-BR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amauryperez66@gmail.com</a:t>
            </a:r>
            <a:endParaRPr lang="pt-BR" sz="2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pt-PT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Anilser</a:t>
            </a: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Faria</a:t>
            </a:r>
          </a:p>
          <a:p>
            <a:pPr marL="0" indent="0" algn="ctr">
              <a:buNone/>
            </a:pP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Domingos </a:t>
            </a:r>
            <a:r>
              <a:rPr lang="pt-PT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Caiombo</a:t>
            </a:r>
            <a:endParaRPr lang="pt-PT" sz="2400" dirty="0"/>
          </a:p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</a:t>
            </a: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orientador]</a:t>
            </a:r>
            <a:endParaRPr lang="pt-PT" sz="2400" dirty="0"/>
          </a:p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[número: Nome do eixo]</a:t>
            </a: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Comunicação oral</a:t>
            </a:r>
            <a:endParaRPr lang="pt-PT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153989" y="6514794"/>
            <a:ext cx="3870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>
                <a:solidFill>
                  <a:srgbClr val="FFC000"/>
                </a:solidFill>
              </a:rPr>
              <a:t>Saber para Construir e Investigar para Transformar </a:t>
            </a:r>
            <a:endParaRPr lang="es-ES" sz="1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Introdução: importância do tema</a:t>
            </a:r>
            <a:endParaRPr lang="pt-PT" sz="3400" dirty="0"/>
          </a:p>
        </p:txBody>
      </p:sp>
      <p:sp>
        <p:nvSpPr>
          <p:cNvPr id="3" name="Cartao Global"/>
          <p:cNvSpPr/>
          <p:nvPr/>
        </p:nvSpPr>
        <p:spPr>
          <a:xfrm>
            <a:off x="548640" y="146304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Global"/>
          <p:cNvSpPr txBox="1"/>
          <p:nvPr/>
        </p:nvSpPr>
        <p:spPr>
          <a:xfrm>
            <a:off x="777240" y="1691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do tema no contexto internacional, com dados e fontes</a:t>
            </a:r>
            <a:endParaRPr lang="pt-PT" sz="2400" dirty="0"/>
          </a:p>
        </p:txBody>
      </p:sp>
      <p:sp>
        <p:nvSpPr>
          <p:cNvPr id="5" name="Seta 1"/>
          <p:cNvSpPr/>
          <p:nvPr/>
        </p:nvSpPr>
        <p:spPr>
          <a:xfrm>
            <a:off x="4058629" y="2331720"/>
            <a:ext cx="32004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artao Nacional"/>
          <p:cNvSpPr/>
          <p:nvPr/>
        </p:nvSpPr>
        <p:spPr>
          <a:xfrm>
            <a:off x="4381348" y="146304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 Nacional"/>
          <p:cNvSpPr txBox="1"/>
          <p:nvPr/>
        </p:nvSpPr>
        <p:spPr>
          <a:xfrm>
            <a:off x="4609948" y="1691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do tema para Angola, com dados nacionais</a:t>
            </a:r>
            <a:endParaRPr lang="pt-PT" sz="2400" dirty="0"/>
          </a:p>
        </p:txBody>
      </p:sp>
      <p:sp>
        <p:nvSpPr>
          <p:cNvPr id="8" name="Seta 2"/>
          <p:cNvSpPr/>
          <p:nvPr/>
        </p:nvSpPr>
        <p:spPr>
          <a:xfrm>
            <a:off x="7891337" y="2331720"/>
            <a:ext cx="32004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artao Lunda Sul"/>
          <p:cNvSpPr/>
          <p:nvPr/>
        </p:nvSpPr>
        <p:spPr>
          <a:xfrm>
            <a:off x="8214055" y="1463040"/>
            <a:ext cx="3429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Lunda Sul"/>
          <p:cNvSpPr txBox="1"/>
          <p:nvPr/>
        </p:nvSpPr>
        <p:spPr>
          <a:xfrm>
            <a:off x="8442655" y="1691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Lunda Sul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do tema na província, com dados locais</a:t>
            </a:r>
            <a:endParaRPr lang="pt-PT" sz="2400" dirty="0"/>
          </a:p>
        </p:txBody>
      </p:sp>
      <p:sp>
        <p:nvSpPr>
          <p:cNvPr id="11" name="Exemplo introducao"/>
          <p:cNvSpPr txBox="1"/>
          <p:nvPr/>
        </p:nvSpPr>
        <p:spPr>
          <a:xfrm>
            <a:off x="548640" y="40233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electrificação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 é um desafio mundial; em Angola, [dado]; na Lunda Sul, [dado].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Situação problemática e problema</a:t>
            </a:r>
            <a:endParaRPr lang="pt-PT" sz="3400" dirty="0"/>
          </a:p>
        </p:txBody>
      </p:sp>
      <p:sp>
        <p:nvSpPr>
          <p:cNvPr id="3" name="Situacao problematica"/>
          <p:cNvSpPr txBox="1"/>
          <p:nvPr/>
        </p:nvSpPr>
        <p:spPr>
          <a:xfrm>
            <a:off x="548640" y="150876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problemática</a:t>
            </a:r>
            <a:endParaRPr lang="pt-PT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Insuficiências identificadas</a:t>
            </a:r>
            <a:endParaRPr lang="pt-PT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relevantes</a:t>
            </a:r>
            <a:endParaRPr lang="pt-PT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ou referências que a fundamentam</a:t>
            </a:r>
            <a:endParaRPr lang="pt-PT" sz="2400" dirty="0"/>
          </a:p>
          <a:p>
            <a:pPr marL="342900" indent="-342900"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identificou: métodos ou observação prática</a:t>
            </a:r>
            <a:endParaRPr lang="pt-PT" sz="2400" dirty="0"/>
          </a:p>
        </p:txBody>
      </p:sp>
      <p:sp>
        <p:nvSpPr>
          <p:cNvPr id="4" name="Seta problema"/>
          <p:cNvSpPr/>
          <p:nvPr/>
        </p:nvSpPr>
        <p:spPr>
          <a:xfrm>
            <a:off x="6537960" y="3337560"/>
            <a:ext cx="502920" cy="54864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artao problema"/>
          <p:cNvSpPr/>
          <p:nvPr/>
        </p:nvSpPr>
        <p:spPr>
          <a:xfrm>
            <a:off x="7269480" y="1463040"/>
            <a:ext cx="4370832" cy="4526280"/>
          </a:xfrm>
          <a:prstGeom prst="roundRect">
            <a:avLst>
              <a:gd name="adj" fmla="val 25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o problema"/>
          <p:cNvSpPr txBox="1"/>
          <p:nvPr/>
        </p:nvSpPr>
        <p:spPr>
          <a:xfrm>
            <a:off x="7543800" y="1737360"/>
            <a:ext cx="3840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investigação</a:t>
            </a:r>
            <a:endParaRPr lang="pt-PT" sz="2400" dirty="0"/>
          </a:p>
          <a:p>
            <a:pPr marL="0" indent="0">
              <a:spcAft>
                <a:spcPts val="1000"/>
              </a:spcAft>
              <a:buNone/>
            </a:pP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Formule-o de forma clara e concisa, de preferência em pergunta.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Como satisfazer a demanda de </a:t>
            </a:r>
            <a:r>
              <a:rPr lang="pt-PT" sz="2400" i="1" dirty="0" err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electricidade</a:t>
            </a:r>
            <a:r>
              <a:rPr lang="pt-PT" sz="24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comunidade A Esperança, Lunda Sul, com recursos renováveis locais?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 err="1">
                <a:solidFill>
                  <a:schemeClr val="bg1"/>
                </a:solidFill>
              </a:rPr>
              <a:t>Objectivo</a:t>
            </a:r>
            <a:r>
              <a:rPr lang="pt-PT" sz="3400" b="1" dirty="0">
                <a:solidFill>
                  <a:schemeClr val="bg1"/>
                </a:solidFill>
              </a:rPr>
              <a:t> geral e </a:t>
            </a:r>
            <a:r>
              <a:rPr lang="pt-PT" sz="3400" b="1" dirty="0" err="1">
                <a:solidFill>
                  <a:schemeClr val="bg1"/>
                </a:solidFill>
              </a:rPr>
              <a:t>objectivos</a:t>
            </a:r>
            <a:r>
              <a:rPr lang="pt-PT" sz="3400" b="1" dirty="0">
                <a:solidFill>
                  <a:schemeClr val="bg1"/>
                </a:solidFill>
              </a:rPr>
              <a:t> específicos</a:t>
            </a:r>
            <a:endParaRPr lang="pt-PT" sz="3400" dirty="0"/>
          </a:p>
        </p:txBody>
      </p:sp>
      <p:sp>
        <p:nvSpPr>
          <p:cNvPr id="3" name="Cartao objectivo geral"/>
          <p:cNvSpPr/>
          <p:nvPr/>
        </p:nvSpPr>
        <p:spPr>
          <a:xfrm>
            <a:off x="548640" y="1463040"/>
            <a:ext cx="11094415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objectivo geral"/>
          <p:cNvSpPr txBox="1"/>
          <p:nvPr/>
        </p:nvSpPr>
        <p:spPr>
          <a:xfrm>
            <a:off x="822960" y="169164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</a:t>
            </a: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geral: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no infinitivo + o quê + para quê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Projectar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sistema híbrido fotovoltaico-biomassa, a fim de satisfazer a demanda de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electrificação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comunidade A Esperança.</a:t>
            </a:r>
            <a:endParaRPr lang="pt-PT" sz="2400" dirty="0"/>
          </a:p>
        </p:txBody>
      </p:sp>
      <p:sp>
        <p:nvSpPr>
          <p:cNvPr id="5" name="Titulo objectivos especificos"/>
          <p:cNvSpPr txBox="1"/>
          <p:nvPr/>
        </p:nvSpPr>
        <p:spPr>
          <a:xfrm>
            <a:off x="548640" y="3657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</a:t>
            </a: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específicos (2 a 4, por ordem lógica)</a:t>
            </a:r>
            <a:endParaRPr lang="pt-PT" sz="2400" dirty="0"/>
          </a:p>
        </p:txBody>
      </p:sp>
      <p:sp>
        <p:nvSpPr>
          <p:cNvPr id="6" name="Numero 1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o numero 1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PT" sz="2400" dirty="0"/>
          </a:p>
        </p:txBody>
      </p:sp>
      <p:sp>
        <p:nvSpPr>
          <p:cNvPr id="8" name="Objectivo especifico 1"/>
          <p:cNvSpPr txBox="1"/>
          <p:nvPr/>
        </p:nvSpPr>
        <p:spPr>
          <a:xfrm>
            <a:off x="1280160" y="4114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[o quê], a fim de [para quê]</a:t>
            </a:r>
            <a:endParaRPr lang="pt-PT" sz="2400" dirty="0"/>
          </a:p>
        </p:txBody>
      </p:sp>
      <p:sp>
        <p:nvSpPr>
          <p:cNvPr id="9" name="Numero 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 numero 2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PT" sz="2400" dirty="0"/>
          </a:p>
        </p:txBody>
      </p:sp>
      <p:sp>
        <p:nvSpPr>
          <p:cNvPr id="11" name="Objectivo especifico 2"/>
          <p:cNvSpPr txBox="1"/>
          <p:nvPr/>
        </p:nvSpPr>
        <p:spPr>
          <a:xfrm>
            <a:off x="1280160" y="47091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[o quê], a fim de [para quê]</a:t>
            </a:r>
            <a:endParaRPr lang="pt-PT" sz="2400" dirty="0"/>
          </a:p>
        </p:txBody>
      </p:sp>
      <p:sp>
        <p:nvSpPr>
          <p:cNvPr id="12" name="Numero 3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o numero 3"/>
          <p:cNvSpPr txBox="1"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PT" sz="2400" dirty="0"/>
          </a:p>
        </p:txBody>
      </p:sp>
      <p:sp>
        <p:nvSpPr>
          <p:cNvPr id="14" name="Objectivo especifico 3"/>
          <p:cNvSpPr txBox="1"/>
          <p:nvPr/>
        </p:nvSpPr>
        <p:spPr>
          <a:xfrm>
            <a:off x="1280160" y="5303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[o quê], a fim de [para quê]</a:t>
            </a:r>
            <a:endParaRPr lang="pt-PT" sz="2400" dirty="0"/>
          </a:p>
        </p:txBody>
      </p:sp>
      <p:sp>
        <p:nvSpPr>
          <p:cNvPr id="15" name="Regra verbos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pt-PT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</a:t>
            </a:r>
            <a:r>
              <a:rPr lang="pt-PT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verbo no infinitivo em cada </a:t>
            </a:r>
            <a:r>
              <a:rPr lang="pt-PT" sz="1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</a:t>
            </a:r>
            <a:r>
              <a:rPr lang="pt-PT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pt-PT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pt-PT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4</a:t>
            </a:fld>
            <a:endParaRPr lang="pt-P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Fundamentação: conceitos e escolhas</a:t>
            </a:r>
            <a:endParaRPr lang="pt-PT" sz="3400" dirty="0"/>
          </a:p>
        </p:txBody>
      </p:sp>
      <p:sp>
        <p:nvSpPr>
          <p:cNvPr id="3" name="Circulo 1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con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Linha 1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e tecnologias: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os necessários que sustentam a solução do problema.</a:t>
            </a:r>
            <a:endParaRPr lang="pt-PT" sz="2400" dirty="0"/>
          </a:p>
        </p:txBody>
      </p:sp>
      <p:sp>
        <p:nvSpPr>
          <p:cNvPr id="6" name="Circulo 2"/>
          <p:cNvSpPr/>
          <p:nvPr/>
        </p:nvSpPr>
        <p:spPr>
          <a:xfrm>
            <a:off x="548640" y="26060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con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88920"/>
            <a:ext cx="365760" cy="365760"/>
          </a:xfrm>
          <a:prstGeom prst="rect">
            <a:avLst/>
          </a:prstGeom>
        </p:spPr>
      </p:pic>
      <p:sp>
        <p:nvSpPr>
          <p:cNvPr id="8" name="Linha 2"/>
          <p:cNvSpPr txBox="1"/>
          <p:nvPr/>
        </p:nvSpPr>
        <p:spPr>
          <a:xfrm>
            <a:off x="1554480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Escolhas: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justifique a metodologia, as tecnologias e as ferramentas </a:t>
            </a:r>
            <a:r>
              <a:rPr lang="pt-PT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seleccionadas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PT" sz="2400" dirty="0"/>
          </a:p>
        </p:txBody>
      </p:sp>
      <p:sp>
        <p:nvSpPr>
          <p:cNvPr id="9" name="Circulo 3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11" name="Linha 3"/>
          <p:cNvSpPr txBox="1"/>
          <p:nvPr/>
        </p:nvSpPr>
        <p:spPr>
          <a:xfrm>
            <a:off x="1554480" y="3566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Citações: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as fontes no sistema Autor-Ano (Sobrenome, Ano).</a:t>
            </a:r>
            <a:endParaRPr lang="pt-PT" sz="2400" dirty="0"/>
          </a:p>
        </p:txBody>
      </p:sp>
      <p:sp>
        <p:nvSpPr>
          <p:cNvPr id="12" name="Caixa exemplo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o exemplo"/>
          <p:cNvSpPr txBox="1"/>
          <p:nvPr/>
        </p:nvSpPr>
        <p:spPr>
          <a:xfrm>
            <a:off x="822960" y="47548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Seleccionou-se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software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HOMER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por permitir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sistemas híbridos (Sobrenome, Ano).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Fundamentação: normas e lacuna</a:t>
            </a:r>
            <a:endParaRPr lang="pt-PT" sz="3400" dirty="0"/>
          </a:p>
        </p:txBody>
      </p:sp>
      <p:sp>
        <p:nvSpPr>
          <p:cNvPr id="3" name="Cartao Antecedentes"/>
          <p:cNvSpPr/>
          <p:nvPr/>
        </p:nvSpPr>
        <p:spPr>
          <a:xfrm>
            <a:off x="548640" y="1463040"/>
            <a:ext cx="32004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Antecedentes"/>
          <p:cNvSpPr txBox="1"/>
          <p:nvPr/>
        </p:nvSpPr>
        <p:spPr>
          <a:xfrm>
            <a:off x="777240" y="1691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resolvido e até onde se chegou</a:t>
            </a:r>
            <a:endParaRPr lang="pt-PT" sz="2400" dirty="0"/>
          </a:p>
        </p:txBody>
      </p:sp>
      <p:sp>
        <p:nvSpPr>
          <p:cNvPr id="5" name="Seta 1"/>
          <p:cNvSpPr/>
          <p:nvPr/>
        </p:nvSpPr>
        <p:spPr>
          <a:xfrm>
            <a:off x="3950208" y="2194560"/>
            <a:ext cx="347472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artao Lacuna"/>
          <p:cNvSpPr/>
          <p:nvPr/>
        </p:nvSpPr>
        <p:spPr>
          <a:xfrm>
            <a:off x="4495648" y="1463040"/>
            <a:ext cx="32004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 Lacuna"/>
          <p:cNvSpPr txBox="1"/>
          <p:nvPr/>
        </p:nvSpPr>
        <p:spPr>
          <a:xfrm>
            <a:off x="4724248" y="1691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resolver</a:t>
            </a:r>
            <a:endParaRPr lang="pt-PT" sz="2400" dirty="0"/>
          </a:p>
        </p:txBody>
      </p:sp>
      <p:sp>
        <p:nvSpPr>
          <p:cNvPr id="8" name="Seta 2"/>
          <p:cNvSpPr/>
          <p:nvPr/>
        </p:nvSpPr>
        <p:spPr>
          <a:xfrm>
            <a:off x="7897216" y="2194560"/>
            <a:ext cx="347472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artao Contribuição"/>
          <p:cNvSpPr/>
          <p:nvPr/>
        </p:nvSpPr>
        <p:spPr>
          <a:xfrm>
            <a:off x="8442655" y="1463040"/>
            <a:ext cx="320040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 Contribuição"/>
          <p:cNvSpPr txBox="1"/>
          <p:nvPr/>
        </p:nvSpPr>
        <p:spPr>
          <a:xfrm>
            <a:off x="8671255" y="16916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este trabalho é original</a:t>
            </a:r>
            <a:endParaRPr lang="pt-PT" sz="2400" dirty="0"/>
          </a:p>
        </p:txBody>
      </p:sp>
      <p:sp>
        <p:nvSpPr>
          <p:cNvPr id="11" name="Normas"/>
          <p:cNvSpPr txBox="1"/>
          <p:nvPr/>
        </p:nvSpPr>
        <p:spPr>
          <a:xfrm>
            <a:off x="548640" y="3840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e padrões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(ISO, </a:t>
            </a:r>
            <a:r>
              <a:rPr lang="pt-PT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PT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 que condicionam a metodologia e os resultados.</a:t>
            </a:r>
            <a:endParaRPr lang="pt-PT" sz="2400" dirty="0"/>
          </a:p>
        </p:txBody>
      </p:sp>
      <p:sp>
        <p:nvSpPr>
          <p:cNvPr id="12" name="Exemplo normas"/>
          <p:cNvSpPr txBox="1"/>
          <p:nvPr/>
        </p:nvSpPr>
        <p:spPr>
          <a:xfrm>
            <a:off x="548640" y="4467494"/>
            <a:ext cx="11094415" cy="534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dimensionamento dos módulos fotovoltaicos seguiu a norma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62548.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6</a:t>
            </a:fld>
            <a:endParaRPr lang="pt-PT" dirty="0"/>
          </a:p>
        </p:txBody>
      </p:sp>
      <p:sp>
        <p:nvSpPr>
          <p:cNvPr id="14" name="Exemplo normas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Trabalhos de engenharia devem citar normas técnicas (ISO, </a:t>
            </a:r>
            <a:r>
              <a:rPr lang="pt-PT" sz="1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PT" sz="1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etc.). Para trabalhos de educação, saúde e gestão pública, substitua as normas por </a:t>
            </a:r>
            <a:r>
              <a:rPr lang="pt-PT" sz="1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directrizes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governamentais, políticas públicas, protocolos de saúde (OMS/</a:t>
            </a:r>
            <a:r>
              <a:rPr lang="pt-PT" sz="1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ou quadros legislativos/educativos aplicáveis.]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Metodologia: métodos e ferramentas</a:t>
            </a:r>
            <a:endParaRPr lang="pt-PT" sz="3400" dirty="0"/>
          </a:p>
        </p:txBody>
      </p:sp>
      <p:sp>
        <p:nvSpPr>
          <p:cNvPr id="3" name="Cartao Tipo de investigação"/>
          <p:cNvSpPr/>
          <p:nvPr/>
        </p:nvSpPr>
        <p:spPr>
          <a:xfrm>
            <a:off x="548640" y="1280158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1"/>
          <p:cNvSpPr/>
          <p:nvPr/>
        </p:nvSpPr>
        <p:spPr>
          <a:xfrm>
            <a:off x="777240" y="1508758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con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673350"/>
            <a:ext cx="310896" cy="310896"/>
          </a:xfrm>
          <a:prstGeom prst="rect">
            <a:avLst/>
          </a:prstGeom>
        </p:spPr>
      </p:pic>
      <p:sp>
        <p:nvSpPr>
          <p:cNvPr id="6" name="Titulo 1"/>
          <p:cNvSpPr txBox="1"/>
          <p:nvPr/>
        </p:nvSpPr>
        <p:spPr>
          <a:xfrm>
            <a:off x="1600200" y="150875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investigação</a:t>
            </a:r>
            <a:endParaRPr lang="pt-PT" sz="2400" dirty="0"/>
          </a:p>
        </p:txBody>
      </p:sp>
      <p:sp>
        <p:nvSpPr>
          <p:cNvPr id="7" name="Texto 1"/>
          <p:cNvSpPr txBox="1"/>
          <p:nvPr/>
        </p:nvSpPr>
        <p:spPr>
          <a:xfrm>
            <a:off x="777240" y="228599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Aplicada, estudo de caso, experimental, descritiva…</a:t>
            </a:r>
            <a:endParaRPr lang="pt-PT" sz="2400" dirty="0"/>
          </a:p>
        </p:txBody>
      </p:sp>
      <p:sp>
        <p:nvSpPr>
          <p:cNvPr id="8" name="Cartao Métodos e procedimentos"/>
          <p:cNvSpPr/>
          <p:nvPr/>
        </p:nvSpPr>
        <p:spPr>
          <a:xfrm>
            <a:off x="6202375" y="1280158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 2"/>
          <p:cNvSpPr/>
          <p:nvPr/>
        </p:nvSpPr>
        <p:spPr>
          <a:xfrm>
            <a:off x="6430975" y="1508758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567" y="1673350"/>
            <a:ext cx="310896" cy="310896"/>
          </a:xfrm>
          <a:prstGeom prst="rect">
            <a:avLst/>
          </a:prstGeom>
        </p:spPr>
      </p:pic>
      <p:sp>
        <p:nvSpPr>
          <p:cNvPr id="11" name="Titulo 2"/>
          <p:cNvSpPr txBox="1"/>
          <p:nvPr/>
        </p:nvSpPr>
        <p:spPr>
          <a:xfrm>
            <a:off x="7253935" y="150875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procedimentos</a:t>
            </a:r>
            <a:endParaRPr lang="pt-PT" sz="2400" dirty="0"/>
          </a:p>
        </p:txBody>
      </p:sp>
      <p:sp>
        <p:nvSpPr>
          <p:cNvPr id="12" name="Texto 2"/>
          <p:cNvSpPr txBox="1"/>
          <p:nvPr/>
        </p:nvSpPr>
        <p:spPr>
          <a:xfrm>
            <a:off x="6430975" y="228599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procedimentos</a:t>
            </a:r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seguidos, por ordem, até aos resultados.</a:t>
            </a:r>
            <a:endParaRPr lang="pt-PT" sz="2400" dirty="0"/>
          </a:p>
        </p:txBody>
      </p:sp>
      <p:sp>
        <p:nvSpPr>
          <p:cNvPr id="13" name="Cartao Tecnologias e ferramentas"/>
          <p:cNvSpPr/>
          <p:nvPr/>
        </p:nvSpPr>
        <p:spPr>
          <a:xfrm>
            <a:off x="548640" y="3585751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 3"/>
          <p:cNvSpPr/>
          <p:nvPr/>
        </p:nvSpPr>
        <p:spPr>
          <a:xfrm>
            <a:off x="777240" y="3814351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con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978943"/>
            <a:ext cx="310896" cy="310896"/>
          </a:xfrm>
          <a:prstGeom prst="rect">
            <a:avLst/>
          </a:prstGeom>
        </p:spPr>
      </p:pic>
      <p:sp>
        <p:nvSpPr>
          <p:cNvPr id="16" name="Titulo 3"/>
          <p:cNvSpPr txBox="1"/>
          <p:nvPr/>
        </p:nvSpPr>
        <p:spPr>
          <a:xfrm>
            <a:off x="1600200" y="3814351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 ferramentas</a:t>
            </a:r>
            <a:endParaRPr lang="pt-PT" sz="2400" dirty="0"/>
          </a:p>
        </p:txBody>
      </p:sp>
      <p:sp>
        <p:nvSpPr>
          <p:cNvPr id="17" name="Texto 3"/>
          <p:cNvSpPr txBox="1"/>
          <p:nvPr/>
        </p:nvSpPr>
        <p:spPr>
          <a:xfrm>
            <a:off x="777240" y="4591591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equipamentos e instrumentos de medição.</a:t>
            </a:r>
            <a:endParaRPr lang="pt-PT" sz="2400" dirty="0"/>
          </a:p>
        </p:txBody>
      </p:sp>
      <p:sp>
        <p:nvSpPr>
          <p:cNvPr id="18" name="Cartao Se aplicável"/>
          <p:cNvSpPr/>
          <p:nvPr/>
        </p:nvSpPr>
        <p:spPr>
          <a:xfrm>
            <a:off x="6202375" y="3585751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ulo 4"/>
          <p:cNvSpPr/>
          <p:nvPr/>
        </p:nvSpPr>
        <p:spPr>
          <a:xfrm>
            <a:off x="6430975" y="3814351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con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567" y="3978943"/>
            <a:ext cx="310896" cy="310896"/>
          </a:xfrm>
          <a:prstGeom prst="rect">
            <a:avLst/>
          </a:prstGeom>
        </p:spPr>
      </p:pic>
      <p:sp>
        <p:nvSpPr>
          <p:cNvPr id="21" name="Titulo 4"/>
          <p:cNvSpPr txBox="1"/>
          <p:nvPr/>
        </p:nvSpPr>
        <p:spPr>
          <a:xfrm>
            <a:off x="7253935" y="3814351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aplicável</a:t>
            </a:r>
            <a:endParaRPr lang="pt-PT" sz="2400" dirty="0"/>
          </a:p>
        </p:txBody>
      </p:sp>
      <p:sp>
        <p:nvSpPr>
          <p:cNvPr id="22" name="Texto 4"/>
          <p:cNvSpPr txBox="1"/>
          <p:nvPr/>
        </p:nvSpPr>
        <p:spPr>
          <a:xfrm>
            <a:off x="6430975" y="4591591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População, amostra, variáveis e técnicas de análise.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144765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7</a:t>
            </a:fld>
            <a:endParaRPr lang="pt-PT" dirty="0"/>
          </a:p>
        </p:txBody>
      </p:sp>
      <p:sp>
        <p:nvSpPr>
          <p:cNvPr id="24" name="Exemplo normas"/>
          <p:cNvSpPr txBox="1"/>
          <p:nvPr/>
        </p:nvSpPr>
        <p:spPr>
          <a:xfrm>
            <a:off x="548640" y="5767255"/>
            <a:ext cx="11094415" cy="62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Em </a:t>
            </a:r>
            <a:r>
              <a:rPr lang="pt-PT" sz="1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projectos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tecnológicos/engenharia, destaque equipamentos, softwares, bancadas de ensaio, etc. Em investigações de saúde, educação ou gestão, especifique a população, amostra, instrumentos de recolha de dados e aprovação ética, se aplicável.]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Metodologia: fluxo de trabalho</a:t>
            </a:r>
            <a:endParaRPr lang="pt-PT" sz="3400" dirty="0"/>
          </a:p>
        </p:txBody>
      </p:sp>
      <p:sp>
        <p:nvSpPr>
          <p:cNvPr id="3" name="Fase 1"/>
          <p:cNvSpPr/>
          <p:nvPr/>
        </p:nvSpPr>
        <p:spPr>
          <a:xfrm>
            <a:off x="548640" y="1645920"/>
            <a:ext cx="24231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 fase 1"/>
          <p:cNvSpPr txBox="1"/>
          <p:nvPr/>
        </p:nvSpPr>
        <p:spPr>
          <a:xfrm>
            <a:off x="731520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pt-PT" sz="2400" dirty="0"/>
          </a:p>
          <a:p>
            <a:pPr marL="0" indent="0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dados</a:t>
            </a:r>
            <a:endParaRPr lang="pt-PT" sz="2400" dirty="0"/>
          </a:p>
        </p:txBody>
      </p:sp>
      <p:sp>
        <p:nvSpPr>
          <p:cNvPr id="5" name="Seta 1"/>
          <p:cNvSpPr/>
          <p:nvPr/>
        </p:nvSpPr>
        <p:spPr>
          <a:xfrm>
            <a:off x="3063240" y="2286000"/>
            <a:ext cx="284378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Fase 2"/>
          <p:cNvSpPr/>
          <p:nvPr/>
        </p:nvSpPr>
        <p:spPr>
          <a:xfrm>
            <a:off x="3439058" y="1645920"/>
            <a:ext cx="24231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o fase 2"/>
          <p:cNvSpPr txBox="1"/>
          <p:nvPr/>
        </p:nvSpPr>
        <p:spPr>
          <a:xfrm>
            <a:off x="3621938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pt-PT" sz="2400" dirty="0"/>
          </a:p>
          <a:p>
            <a:pPr marL="0" indent="0">
              <a:buNone/>
            </a:pPr>
            <a:r>
              <a:rPr lang="pt-PT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</a:t>
            </a: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técnico</a:t>
            </a:r>
            <a:endParaRPr lang="pt-PT" sz="2400" dirty="0"/>
          </a:p>
        </p:txBody>
      </p:sp>
      <p:sp>
        <p:nvSpPr>
          <p:cNvPr id="8" name="Seta 2"/>
          <p:cNvSpPr/>
          <p:nvPr/>
        </p:nvSpPr>
        <p:spPr>
          <a:xfrm>
            <a:off x="5953658" y="2286000"/>
            <a:ext cx="284378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Fase 3"/>
          <p:cNvSpPr/>
          <p:nvPr/>
        </p:nvSpPr>
        <p:spPr>
          <a:xfrm>
            <a:off x="6329477" y="1645920"/>
            <a:ext cx="24231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 fase 3"/>
          <p:cNvSpPr txBox="1"/>
          <p:nvPr/>
        </p:nvSpPr>
        <p:spPr>
          <a:xfrm>
            <a:off x="6512357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pt-PT" sz="2400" dirty="0"/>
          </a:p>
          <a:p>
            <a:pPr marL="0" indent="0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pt-PT" sz="2400" dirty="0"/>
          </a:p>
        </p:txBody>
      </p:sp>
      <p:sp>
        <p:nvSpPr>
          <p:cNvPr id="11" name="Seta 3"/>
          <p:cNvSpPr/>
          <p:nvPr/>
        </p:nvSpPr>
        <p:spPr>
          <a:xfrm>
            <a:off x="8844077" y="2286000"/>
            <a:ext cx="284378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Fase 4"/>
          <p:cNvSpPr/>
          <p:nvPr/>
        </p:nvSpPr>
        <p:spPr>
          <a:xfrm>
            <a:off x="9219895" y="1645920"/>
            <a:ext cx="24231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o fase 4"/>
          <p:cNvSpPr txBox="1"/>
          <p:nvPr/>
        </p:nvSpPr>
        <p:spPr>
          <a:xfrm>
            <a:off x="9402775" y="18288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pt-PT" sz="2400" dirty="0"/>
          </a:p>
          <a:p>
            <a:pPr marL="0" indent="0">
              <a:buNone/>
            </a:pPr>
            <a:r>
              <a:rPr lang="pt-PT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viabilidade</a:t>
            </a:r>
            <a:endParaRPr lang="pt-PT" sz="2400" dirty="0"/>
          </a:p>
        </p:txBody>
      </p:sp>
      <p:sp>
        <p:nvSpPr>
          <p:cNvPr id="14" name="Legenda fluxo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[Exemplo de fases: adapte-as à sua metodologia.]</a:t>
            </a:r>
            <a:endParaRPr lang="pt-PT" sz="2400" dirty="0"/>
          </a:p>
        </p:txBody>
      </p:sp>
      <p:sp>
        <p:nvSpPr>
          <p:cNvPr id="15" name="Orientacao fluxo"/>
          <p:cNvSpPr txBox="1"/>
          <p:nvPr/>
        </p:nvSpPr>
        <p:spPr>
          <a:xfrm>
            <a:off x="548638" y="3803903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a metodologia num esquema ou fluxograma, com as fases pela mesma ordem dos resultados.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7" name="Exemplo normas"/>
          <p:cNvSpPr txBox="1"/>
          <p:nvPr/>
        </p:nvSpPr>
        <p:spPr>
          <a:xfrm>
            <a:off x="548637" y="5321807"/>
            <a:ext cx="11094415" cy="81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</a:t>
            </a:r>
            <a:r>
              <a:rPr lang="pt-BR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trabalho deve reflectir a natureza da sua investigação. Exemplo para engenharia: Diagnóstico ➔ Dimensionamento ➔ Simulação ➔ Análise Económica. Exemplo para Educação/Saúde: Diagnóstico inicial ➔ Concepção da Proposta/Intervenção ➔ Aplicação ➔ Avaliação de impacto.]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Resultados</a:t>
            </a:r>
            <a:endParaRPr lang="pt-PT" sz="3400" dirty="0"/>
          </a:p>
        </p:txBody>
      </p:sp>
      <p:sp>
        <p:nvSpPr>
          <p:cNvPr id="3" name="Legenda figura"/>
          <p:cNvSpPr txBox="1"/>
          <p:nvPr/>
        </p:nvSpPr>
        <p:spPr>
          <a:xfrm>
            <a:off x="548640" y="124097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</a:t>
            </a:r>
            <a:endParaRPr lang="pt-PT" sz="2000" dirty="0"/>
          </a:p>
          <a:p>
            <a:pPr marL="0" indent="0">
              <a:buNone/>
            </a:pPr>
            <a:r>
              <a:rPr lang="pt-PT" sz="2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descritivo da figura</a:t>
            </a:r>
            <a:endParaRPr lang="pt-PT" sz="2000" dirty="0"/>
          </a:p>
        </p:txBody>
      </p:sp>
      <p:sp>
        <p:nvSpPr>
          <p:cNvPr id="4" name="Espaco figura"/>
          <p:cNvSpPr/>
          <p:nvPr/>
        </p:nvSpPr>
        <p:spPr>
          <a:xfrm>
            <a:off x="548640" y="1965957"/>
            <a:ext cx="6309360" cy="32461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dash"/>
          </a:ln>
        </p:spPr>
      </p:sp>
      <p:sp>
        <p:nvSpPr>
          <p:cNvPr id="5" name="Texto espaco figura"/>
          <p:cNvSpPr txBox="1"/>
          <p:nvPr/>
        </p:nvSpPr>
        <p:spPr>
          <a:xfrm>
            <a:off x="548640" y="1965957"/>
            <a:ext cx="6309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 figura, esquema ou fotografia]</a:t>
            </a:r>
            <a:endParaRPr lang="pt-PT" sz="2400" dirty="0"/>
          </a:p>
        </p:txBody>
      </p:sp>
      <p:sp>
        <p:nvSpPr>
          <p:cNvPr id="6" name="Fonte figura"/>
          <p:cNvSpPr txBox="1"/>
          <p:nvPr/>
        </p:nvSpPr>
        <p:spPr>
          <a:xfrm>
            <a:off x="548640" y="5323111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Sobrenome (Ano), quando aplicável.</a:t>
            </a:r>
            <a:endParaRPr lang="pt-PT" sz="1800" dirty="0"/>
          </a:p>
        </p:txBody>
      </p:sp>
      <p:sp>
        <p:nvSpPr>
          <p:cNvPr id="7" name="Orientacoes resultados"/>
          <p:cNvSpPr txBox="1"/>
          <p:nvPr/>
        </p:nvSpPr>
        <p:spPr>
          <a:xfrm>
            <a:off x="7223760" y="1780467"/>
            <a:ext cx="44165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mais importantes, pela ordem da metodologia</a:t>
            </a:r>
            <a:endParaRPr lang="pt-PT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e tabelas numeradas e legendadas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9</a:t>
            </a:fld>
            <a:endParaRPr lang="pt-PT" dirty="0"/>
          </a:p>
        </p:txBody>
      </p:sp>
      <p:sp>
        <p:nvSpPr>
          <p:cNvPr id="9" name="Exemplo normas"/>
          <p:cNvSpPr txBox="1"/>
          <p:nvPr/>
        </p:nvSpPr>
        <p:spPr>
          <a:xfrm>
            <a:off x="548640" y="5869143"/>
            <a:ext cx="11094415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</a:t>
            </a:r>
            <a:r>
              <a:rPr lang="pt-BR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os elementos visuais ao seu tipo de resultado. Exemplos Engenharias: esquemas técnicos, gráficos de simulação ou protótipos. Saúde e Educação: tabelas estatísticas, gráficos de inquéritos, fotografias de intervenções no terreno. etc.]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Resultados</a:t>
            </a:r>
            <a:endParaRPr lang="pt-PT" sz="3400" dirty="0"/>
          </a:p>
        </p:txBody>
      </p:sp>
      <p:sp>
        <p:nvSpPr>
          <p:cNvPr id="3" name="Legenda tabela"/>
          <p:cNvSpPr txBox="1"/>
          <p:nvPr/>
        </p:nvSpPr>
        <p:spPr>
          <a:xfrm>
            <a:off x="548640" y="116912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</a:t>
            </a:r>
            <a:endParaRPr lang="pt-PT" sz="2000" dirty="0"/>
          </a:p>
          <a:p>
            <a:pPr marL="0" indent="0">
              <a:buNone/>
            </a:pPr>
            <a:r>
              <a:rPr lang="pt-PT" sz="2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da tabela</a:t>
            </a:r>
            <a:endParaRPr lang="pt-PT" sz="2000" dirty="0"/>
          </a:p>
        </p:txBody>
      </p:sp>
      <p:graphicFrame>
        <p:nvGraphicFramePr>
          <p:cNvPr id="11" name="Tabela exemp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255591"/>
              </p:ext>
            </p:extLst>
          </p:nvPr>
        </p:nvGraphicFramePr>
        <p:xfrm>
          <a:off x="548640" y="1874517"/>
          <a:ext cx="11094414" cy="1828800"/>
        </p:xfrm>
        <a:graphic>
          <a:graphicData uri="http://schemas.openxmlformats.org/drawingml/2006/table">
            <a:tbl>
              <a:tblPr/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[Cabeçalho 1]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[Cabeçalho 2]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[Cabeçalho 3]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[dado]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nte tabela"/>
          <p:cNvSpPr txBox="1"/>
          <p:nvPr/>
        </p:nvSpPr>
        <p:spPr>
          <a:xfrm>
            <a:off x="548640" y="3840477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Sobrenome (Ano), quando aplicável.</a:t>
            </a:r>
            <a:endParaRPr lang="pt-PT" sz="1800" dirty="0"/>
          </a:p>
        </p:txBody>
      </p:sp>
      <p:sp>
        <p:nvSpPr>
          <p:cNvPr id="6" name="Orientacao tabela"/>
          <p:cNvSpPr txBox="1"/>
          <p:nvPr/>
        </p:nvSpPr>
        <p:spPr>
          <a:xfrm>
            <a:off x="548640" y="4251955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o essencial: não repita no diapositivo tudo o que a tabela já mostra.</a:t>
            </a:r>
            <a:endParaRPr lang="pt-PT" sz="2400" dirty="0"/>
          </a:p>
        </p:txBody>
      </p:sp>
      <p:sp>
        <p:nvSpPr>
          <p:cNvPr id="7" name="Exemplo tabela"/>
          <p:cNvSpPr txBox="1"/>
          <p:nvPr/>
        </p:nvSpPr>
        <p:spPr>
          <a:xfrm>
            <a:off x="548640" y="4774468"/>
            <a:ext cx="11094415" cy="43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1 mostra que o custo por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diminui [x] % com a solução proposta.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10</a:t>
            </a:fld>
            <a:endParaRPr lang="pt-PT" dirty="0"/>
          </a:p>
        </p:txBody>
      </p:sp>
      <p:sp>
        <p:nvSpPr>
          <p:cNvPr id="9" name="Exemplo normas"/>
          <p:cNvSpPr txBox="1"/>
          <p:nvPr/>
        </p:nvSpPr>
        <p:spPr>
          <a:xfrm>
            <a:off x="548639" y="5805782"/>
            <a:ext cx="11094415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</a:t>
            </a:r>
            <a:r>
              <a:rPr lang="pt-BR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os elementos visuais ao seu tipo de resultado. Exemplos Engenharias: esquemas técnicos, gráficos de simulação ou protótipos. Saúde e Educação: tabelas estatísticas, gráficos de inquéritos, fotografias de intervenções no terreno. etc.]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Discussão crítica dos resultados</a:t>
            </a:r>
            <a:endParaRPr lang="pt-PT" sz="3400" dirty="0"/>
          </a:p>
        </p:txBody>
      </p:sp>
      <p:sp>
        <p:nvSpPr>
          <p:cNvPr id="3" name="Cartao 1"/>
          <p:cNvSpPr/>
          <p:nvPr/>
        </p:nvSpPr>
        <p:spPr>
          <a:xfrm>
            <a:off x="548640" y="146304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cartao 1"/>
          <p:cNvSpPr txBox="1"/>
          <p:nvPr/>
        </p:nvSpPr>
        <p:spPr>
          <a:xfrm>
            <a:off x="777240" y="1691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significam?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Interprete: vá além de descrever os valores.</a:t>
            </a:r>
            <a:endParaRPr lang="pt-PT" sz="2400" dirty="0"/>
          </a:p>
        </p:txBody>
      </p:sp>
      <p:sp>
        <p:nvSpPr>
          <p:cNvPr id="5" name="Cartao 2"/>
          <p:cNvSpPr/>
          <p:nvPr/>
        </p:nvSpPr>
        <p:spPr>
          <a:xfrm>
            <a:off x="4381348" y="146304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cartao 2"/>
          <p:cNvSpPr txBox="1"/>
          <p:nvPr/>
        </p:nvSpPr>
        <p:spPr>
          <a:xfrm>
            <a:off x="4609948" y="1691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Porquê?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as causas dos resultados obtidos.</a:t>
            </a:r>
            <a:endParaRPr lang="pt-PT" sz="2400" dirty="0"/>
          </a:p>
        </p:txBody>
      </p:sp>
      <p:sp>
        <p:nvSpPr>
          <p:cNvPr id="7" name="Cartao 3"/>
          <p:cNvSpPr/>
          <p:nvPr/>
        </p:nvSpPr>
        <p:spPr>
          <a:xfrm>
            <a:off x="8214055" y="146304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cartao 3"/>
          <p:cNvSpPr txBox="1"/>
          <p:nvPr/>
        </p:nvSpPr>
        <p:spPr>
          <a:xfrm>
            <a:off x="8442655" y="1691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 se relacionam?</a:t>
            </a:r>
            <a:endParaRPr lang="pt-PT" sz="2400" dirty="0"/>
          </a:p>
          <a:p>
            <a:pPr marL="0" indent="0"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iniciais e literatura consultada.</a:t>
            </a:r>
            <a:endParaRPr lang="pt-PT" sz="2400" dirty="0"/>
          </a:p>
        </p:txBody>
      </p:sp>
      <p:sp>
        <p:nvSpPr>
          <p:cNvPr id="9" name="Caixa exemplo"/>
          <p:cNvSpPr/>
          <p:nvPr/>
        </p:nvSpPr>
        <p:spPr>
          <a:xfrm>
            <a:off x="548640" y="38404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10" name="Texto exemplo"/>
          <p:cNvSpPr txBox="1"/>
          <p:nvPr/>
        </p:nvSpPr>
        <p:spPr>
          <a:xfrm>
            <a:off x="822960" y="384048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da tensão de saída deveu-se a [causa], o que coincide com (Sobrenome, Ano).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11</a:t>
            </a:fld>
            <a:endParaRPr lang="pt-PT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Impactos comprovados e potenciais</a:t>
            </a:r>
            <a:endParaRPr lang="pt-PT" sz="3400" dirty="0"/>
          </a:p>
        </p:txBody>
      </p:sp>
      <p:sp>
        <p:nvSpPr>
          <p:cNvPr id="3" name="Cartao comprovados"/>
          <p:cNvSpPr/>
          <p:nvPr/>
        </p:nvSpPr>
        <p:spPr>
          <a:xfrm>
            <a:off x="548640" y="1293224"/>
            <a:ext cx="5440680" cy="4180113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comprovados"/>
          <p:cNvSpPr txBox="1"/>
          <p:nvPr/>
        </p:nvSpPr>
        <p:spPr>
          <a:xfrm>
            <a:off x="822960" y="1463040"/>
            <a:ext cx="4892040" cy="419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comprovados</a:t>
            </a:r>
            <a:endParaRPr lang="pt-PT" sz="2400" dirty="0"/>
          </a:p>
          <a:p>
            <a:pPr>
              <a:spcAft>
                <a:spcPts val="1000"/>
              </a:spcAft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>
              <a:spcAft>
                <a:spcPts val="1000"/>
              </a:spcAft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>
              <a:spcAft>
                <a:spcPts val="1000"/>
              </a:spcAft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>
              <a:spcAft>
                <a:spcPts val="1000"/>
              </a:spcAft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>
              <a:spcAft>
                <a:spcPts val="1000"/>
              </a:spcAft>
            </a:pPr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 solução reduz as perdas de energia em [x] %.</a:t>
            </a:r>
            <a:endParaRPr lang="pt-PT" sz="2400" dirty="0"/>
          </a:p>
        </p:txBody>
      </p:sp>
      <p:sp>
        <p:nvSpPr>
          <p:cNvPr id="5" name="Cartao potenciais"/>
          <p:cNvSpPr/>
          <p:nvPr/>
        </p:nvSpPr>
        <p:spPr>
          <a:xfrm>
            <a:off x="6202375" y="1293224"/>
            <a:ext cx="5440680" cy="4180113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6" name="Texto potenciais"/>
          <p:cNvSpPr txBox="1"/>
          <p:nvPr/>
        </p:nvSpPr>
        <p:spPr>
          <a:xfrm>
            <a:off x="6476695" y="1463040"/>
            <a:ext cx="4892040" cy="401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potenciais</a:t>
            </a:r>
            <a:endParaRPr lang="pt-PT" sz="2400" dirty="0"/>
          </a:p>
          <a:p>
            <a:pPr marL="0" indent="0">
              <a:spcAft>
                <a:spcPts val="1000"/>
              </a:spcAft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Esperados se for aplicado em maior escala; justifique.</a:t>
            </a:r>
            <a:endParaRPr lang="pt-PT" sz="2400" dirty="0"/>
          </a:p>
          <a:p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pt-PT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</a:t>
            </a: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pt-PT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Se aplicado a […], poderia resultar em […] porque […].</a:t>
            </a:r>
            <a:endParaRPr lang="pt-PT" sz="2400" dirty="0"/>
          </a:p>
        </p:txBody>
      </p:sp>
      <p:sp>
        <p:nvSpPr>
          <p:cNvPr id="7" name="Rigor"/>
          <p:cNvSpPr txBox="1"/>
          <p:nvPr/>
        </p:nvSpPr>
        <p:spPr>
          <a:xfrm>
            <a:off x="629041" y="5510561"/>
            <a:ext cx="9298730" cy="282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[Rigor: distinga-os claramente e não exagere. Demonstrados pelos resultados; quantifique.]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12</a:t>
            </a:fld>
            <a:endParaRPr lang="pt-PT"/>
          </a:p>
        </p:txBody>
      </p:sp>
      <p:sp>
        <p:nvSpPr>
          <p:cNvPr id="9" name="Exemplo normas"/>
          <p:cNvSpPr txBox="1"/>
          <p:nvPr/>
        </p:nvSpPr>
        <p:spPr>
          <a:xfrm>
            <a:off x="613954" y="5779656"/>
            <a:ext cx="11286309" cy="58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de adaptação: </a:t>
            </a:r>
            <a:r>
              <a:rPr lang="pt-BR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obrigatório preencher todos os tipos de impacto. Trabalhos de engenharia podem-se focar em impactos técnicos, económicos, ambientais e </a:t>
            </a:r>
            <a:r>
              <a:rPr lang="pt-PT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r>
              <a:rPr lang="pt-BR" sz="1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Trabalhos de saúde, educação e gestão podem dar prioridade aos impactos sociais, pedagógicos, na saúde pública e de humanização dos serviços.]</a:t>
            </a:r>
            <a:endParaRPr lang="pt-PT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Conclusões: resposta aos </a:t>
            </a:r>
            <a:r>
              <a:rPr lang="pt-PT" sz="3400" b="1" dirty="0" err="1">
                <a:solidFill>
                  <a:schemeClr val="bg1"/>
                </a:solidFill>
              </a:rPr>
              <a:t>objectivos</a:t>
            </a:r>
            <a:endParaRPr lang="pt-PT" sz="3400" dirty="0"/>
          </a:p>
        </p:txBody>
      </p:sp>
      <p:sp>
        <p:nvSpPr>
          <p:cNvPr id="3" name="Orientacao conclusoes"/>
          <p:cNvSpPr txBox="1"/>
          <p:nvPr/>
        </p:nvSpPr>
        <p:spPr>
          <a:xfrm>
            <a:off x="548640" y="1299753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[Sínteses dos principais resultados, e não descrição do que se fez. Uma por </a:t>
            </a:r>
            <a:r>
              <a:rPr lang="pt-PT" sz="2400" i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</a:t>
            </a:r>
            <a:r>
              <a:rPr lang="pt-PT" sz="2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específico, em frases curtas e afirmativas.]</a:t>
            </a:r>
            <a:endParaRPr lang="pt-PT" sz="2400" i="1" dirty="0"/>
          </a:p>
        </p:txBody>
      </p:sp>
      <p:sp>
        <p:nvSpPr>
          <p:cNvPr id="7" name="Caixa conclusao 1"/>
          <p:cNvSpPr/>
          <p:nvPr/>
        </p:nvSpPr>
        <p:spPr>
          <a:xfrm>
            <a:off x="548640" y="2331717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clusao 1"/>
          <p:cNvSpPr txBox="1"/>
          <p:nvPr/>
        </p:nvSpPr>
        <p:spPr>
          <a:xfrm>
            <a:off x="679270" y="2279465"/>
            <a:ext cx="10689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demonstrou que…</a:t>
            </a:r>
            <a:endParaRPr lang="pt-PT" sz="2400" dirty="0"/>
          </a:p>
        </p:txBody>
      </p:sp>
      <p:sp>
        <p:nvSpPr>
          <p:cNvPr id="12" name="Caixa conclusao 2"/>
          <p:cNvSpPr/>
          <p:nvPr/>
        </p:nvSpPr>
        <p:spPr>
          <a:xfrm>
            <a:off x="548640" y="3383277"/>
            <a:ext cx="11094416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ao 2"/>
          <p:cNvSpPr txBox="1"/>
          <p:nvPr/>
        </p:nvSpPr>
        <p:spPr>
          <a:xfrm>
            <a:off x="679270" y="3344088"/>
            <a:ext cx="106894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resultados confirmam que…</a:t>
            </a:r>
            <a:endParaRPr lang="pt-PT" sz="2400" dirty="0"/>
          </a:p>
        </p:txBody>
      </p:sp>
      <p:sp>
        <p:nvSpPr>
          <p:cNvPr id="17" name="Caixa conclusao 3"/>
          <p:cNvSpPr/>
          <p:nvPr/>
        </p:nvSpPr>
        <p:spPr>
          <a:xfrm>
            <a:off x="548640" y="4434837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nclusao 3"/>
          <p:cNvSpPr txBox="1"/>
          <p:nvPr/>
        </p:nvSpPr>
        <p:spPr>
          <a:xfrm>
            <a:off x="679270" y="4395648"/>
            <a:ext cx="106894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metodologia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adoptada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permitiu…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13</a:t>
            </a:fld>
            <a:endParaRPr lang="pt-P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Recomendações: futuro e aplicação</a:t>
            </a:r>
            <a:endParaRPr lang="pt-PT" sz="3400" dirty="0"/>
          </a:p>
        </p:txBody>
      </p:sp>
      <p:sp>
        <p:nvSpPr>
          <p:cNvPr id="3" name="Cartao Trabalhos futuros"/>
          <p:cNvSpPr/>
          <p:nvPr/>
        </p:nvSpPr>
        <p:spPr>
          <a:xfrm>
            <a:off x="548640" y="1463040"/>
            <a:ext cx="5440680" cy="3538728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1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con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itulo 1"/>
          <p:cNvSpPr txBox="1"/>
          <p:nvPr/>
        </p:nvSpPr>
        <p:spPr>
          <a:xfrm>
            <a:off x="1783080" y="1691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pt-PT" sz="2400" dirty="0"/>
          </a:p>
        </p:txBody>
      </p:sp>
      <p:sp>
        <p:nvSpPr>
          <p:cNvPr id="7" name="Texto 1"/>
          <p:cNvSpPr txBox="1"/>
          <p:nvPr/>
        </p:nvSpPr>
        <p:spPr>
          <a:xfrm>
            <a:off x="822960" y="2586444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em aberto e novas linhas de investigação.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Validar o modelo com dados medidos durante um ano.</a:t>
            </a:r>
            <a:endParaRPr lang="pt-PT" sz="2400" dirty="0"/>
          </a:p>
        </p:txBody>
      </p:sp>
      <p:sp>
        <p:nvSpPr>
          <p:cNvPr id="8" name="Cartao Aplicação prática"/>
          <p:cNvSpPr/>
          <p:nvPr/>
        </p:nvSpPr>
        <p:spPr>
          <a:xfrm>
            <a:off x="6202375" y="1463040"/>
            <a:ext cx="5440680" cy="3538728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 2"/>
          <p:cNvSpPr/>
          <p:nvPr/>
        </p:nvSpPr>
        <p:spPr>
          <a:xfrm>
            <a:off x="6476695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575" y="1874520"/>
            <a:ext cx="365760" cy="365760"/>
          </a:xfrm>
          <a:prstGeom prst="rect">
            <a:avLst/>
          </a:prstGeom>
        </p:spPr>
      </p:pic>
      <p:sp>
        <p:nvSpPr>
          <p:cNvPr id="11" name="Titulo 2"/>
          <p:cNvSpPr txBox="1"/>
          <p:nvPr/>
        </p:nvSpPr>
        <p:spPr>
          <a:xfrm>
            <a:off x="7436815" y="1691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</a:t>
            </a:r>
            <a:r>
              <a:rPr lang="pt-PT" sz="24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pt-PT" sz="2400" dirty="0"/>
          </a:p>
        </p:txBody>
      </p:sp>
      <p:sp>
        <p:nvSpPr>
          <p:cNvPr id="12" name="Texto 2"/>
          <p:cNvSpPr txBox="1"/>
          <p:nvPr/>
        </p:nvSpPr>
        <p:spPr>
          <a:xfrm>
            <a:off x="6476695" y="2521129"/>
            <a:ext cx="4892040" cy="236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resultados podem ser </a:t>
            </a:r>
            <a:r>
              <a:rPr lang="pt-PT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adoptados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pt-PT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empresas locais, unidades de saúde, escolas, instituições públicas da Lunda Sul, etc.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Implementar um </a:t>
            </a:r>
            <a:r>
              <a:rPr lang="pt-PT" sz="2400" i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projecto-piloto</a:t>
            </a: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comunidade…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14</a:t>
            </a:fld>
            <a:endParaRPr lang="pt-P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Referências bibliográficas</a:t>
            </a:r>
            <a:endParaRPr lang="pt-PT" sz="3400" dirty="0"/>
          </a:p>
        </p:txBody>
      </p:sp>
      <p:sp>
        <p:nvSpPr>
          <p:cNvPr id="3" name="Orientacoes referencias"/>
          <p:cNvSpPr txBox="1"/>
          <p:nvPr/>
        </p:nvSpPr>
        <p:spPr>
          <a:xfrm>
            <a:off x="548640" y="14630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as principais, em norma APA, 7.ª edição</a:t>
            </a:r>
            <a:endParaRPr lang="pt-PT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ordem alfabética do sobrenome do primeiro autor</a:t>
            </a:r>
            <a:endParaRPr lang="pt-PT" sz="2400" dirty="0"/>
          </a:p>
          <a:p>
            <a:pPr marL="342900" indent="-342900">
              <a:buSzPct val="100000"/>
              <a:buChar char="•"/>
            </a:pP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citadas nos diapositivos; URL completa nas fontes da Internet</a:t>
            </a:r>
            <a:endParaRPr lang="pt-PT" sz="2400" dirty="0"/>
          </a:p>
        </p:txBody>
      </p:sp>
      <p:sp>
        <p:nvSpPr>
          <p:cNvPr id="4" name="Caixa modelos"/>
          <p:cNvSpPr/>
          <p:nvPr/>
        </p:nvSpPr>
        <p:spPr>
          <a:xfrm>
            <a:off x="548640" y="3611880"/>
            <a:ext cx="11094415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 modelos"/>
          <p:cNvSpPr txBox="1"/>
          <p:nvPr/>
        </p:nvSpPr>
        <p:spPr>
          <a:xfrm>
            <a:off x="822960" y="3794760"/>
            <a:ext cx="1054577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Sobrenome, N. A. (Ano). Título do livro. Editora.</a:t>
            </a:r>
            <a:endParaRPr lang="pt-PT" sz="2400" dirty="0"/>
          </a:p>
          <a:p>
            <a:pPr marL="0" indent="0">
              <a:buNone/>
            </a:pPr>
            <a:r>
              <a:rPr lang="pt-PT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Sobrenome, N. A., &amp; Sobrenome, N. A. (Ano). Título do artigo. Nome da Revista, Vol.(Núm.), pp–pp. https://doi.org/XXXXX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15</a:t>
            </a:fld>
            <a:endParaRPr lang="pt-PT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91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400" b="1" dirty="0">
                <a:solidFill>
                  <a:schemeClr val="bg1"/>
                </a:solidFill>
              </a:rPr>
              <a:t>Agradecimentos</a:t>
            </a:r>
            <a:endParaRPr lang="pt-PT" sz="3400" dirty="0"/>
          </a:p>
        </p:txBody>
      </p:sp>
      <p:sp>
        <p:nvSpPr>
          <p:cNvPr id="3" name="Obrigado"/>
          <p:cNvSpPr txBox="1"/>
          <p:nvPr/>
        </p:nvSpPr>
        <p:spPr>
          <a:xfrm>
            <a:off x="54864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4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vossa atenção</a:t>
            </a:r>
            <a:endParaRPr lang="pt-PT" sz="4000" dirty="0"/>
          </a:p>
        </p:txBody>
      </p:sp>
      <p:sp>
        <p:nvSpPr>
          <p:cNvPr id="4" name="Agradecimentos e contacto"/>
          <p:cNvSpPr txBox="1"/>
          <p:nvPr/>
        </p:nvSpPr>
        <p:spPr>
          <a:xfrm>
            <a:off x="548640" y="27432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(facultativo): [orientador, entidades de apoio, laboratórios, colegas]</a:t>
            </a:r>
            <a:endParaRPr lang="pt-PT" sz="2400" dirty="0"/>
          </a:p>
          <a:p>
            <a:pPr marL="0" indent="0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</a:t>
            </a:r>
            <a:r>
              <a:rPr lang="pt-PT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apresentador] · [e-mail]</a:t>
            </a:r>
            <a:endParaRPr lang="pt-PT" sz="2400" dirty="0"/>
          </a:p>
        </p:txBody>
      </p:sp>
      <p:sp>
        <p:nvSpPr>
          <p:cNvPr id="5" name="Circulo perguntas"/>
          <p:cNvSpPr/>
          <p:nvPr/>
        </p:nvSpPr>
        <p:spPr>
          <a:xfrm>
            <a:off x="9144000" y="2194560"/>
            <a:ext cx="2377440" cy="23774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cone pergunta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926080"/>
            <a:ext cx="914400" cy="914400"/>
          </a:xfrm>
          <a:prstGeom prst="rect">
            <a:avLst/>
          </a:prstGeom>
        </p:spPr>
      </p:pic>
      <p:sp>
        <p:nvSpPr>
          <p:cNvPr id="7" name="Perguntas e debate"/>
          <p:cNvSpPr txBox="1"/>
          <p:nvPr/>
        </p:nvSpPr>
        <p:spPr>
          <a:xfrm>
            <a:off x="877824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debate</a:t>
            </a:r>
            <a:endParaRPr lang="pt-PT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 smtClean="0"/>
              <a:t>16</a:t>
            </a:fld>
            <a:endParaRPr lang="pt-P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TC IPS 2026">
  <a:themeElements>
    <a:clrScheme name="JTC IPS 2026">
      <a:dk1>
        <a:srgbClr val="1B2A41"/>
      </a:dk1>
      <a:lt1>
        <a:srgbClr val="FFFFFF"/>
      </a:lt1>
      <a:dk2>
        <a:srgbClr val="0F2A5C"/>
      </a:dk2>
      <a:lt2>
        <a:srgbClr val="E6EEF6"/>
      </a:lt2>
      <a:accent1>
        <a:srgbClr val="2F6F9F"/>
      </a:accent1>
      <a:accent2>
        <a:srgbClr val="7AB648"/>
      </a:accent2>
      <a:accent3>
        <a:srgbClr val="7A1F3D"/>
      </a:accent3>
      <a:accent4>
        <a:srgbClr val="9DB7CF"/>
      </a:accent4>
      <a:accent5>
        <a:srgbClr val="5F7189"/>
      </a:accent5>
      <a:accent6>
        <a:srgbClr val="C9D6E3"/>
      </a:accent6>
      <a:hlink>
        <a:srgbClr val="2F6F9F"/>
      </a:hlink>
      <a:folHlink>
        <a:srgbClr val="5F7189"/>
      </a:folHlink>
    </a:clrScheme>
    <a:fontScheme name="JTC IPS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2115</Words>
  <Application>Microsoft Office PowerPoint</Application>
  <PresentationFormat>Ecrã Panorâmico</PresentationFormat>
  <Paragraphs>200</Paragraphs>
  <Slides>16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19" baseType="lpstr">
      <vt:lpstr>Arial</vt:lpstr>
      <vt:lpstr>Calibri</vt:lpstr>
      <vt:lpstr>JTC IPS 2026</vt:lpstr>
      <vt:lpstr>TÍTULO RELACIONADO COM UM EIXO TEMÁTICO DA JORNADA, ESTRUTURADO RESPONDENDO AS PERGUNTAS: O QUE SE FAZ? SOBRE QUÊ? ONDE? COMO? OU COM QUE ALCANCE</vt:lpstr>
      <vt:lpstr>Introdução: importância do tema</vt:lpstr>
      <vt:lpstr>Situação problemática e problema</vt:lpstr>
      <vt:lpstr>Objectivo geral e objectivos específicos</vt:lpstr>
      <vt:lpstr>Fundamentação: conceitos e escolhas</vt:lpstr>
      <vt:lpstr>Fundamentação: normas e lacuna</vt:lpstr>
      <vt:lpstr>Metodologia: métodos e ferramentas</vt:lpstr>
      <vt:lpstr>Metodologia: fluxo de trabalho</vt:lpstr>
      <vt:lpstr>Resultados</vt:lpstr>
      <vt:lpstr>Resultados</vt:lpstr>
      <vt:lpstr>Discussão crítica dos resultados</vt:lpstr>
      <vt:lpstr>Impactos comprovados e potenciais</vt:lpstr>
      <vt:lpstr>Conclusões: resposta aos objectivos</vt:lpstr>
      <vt:lpstr>Recomendações: futuro e aplicação</vt:lpstr>
      <vt:lpstr>Referências bibliográficas</vt:lpstr>
      <vt:lpstr>Agradecimentos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apresentação oral – JTC IPS 2026</dc:title>
  <dc:subject>Jornadas Técnico-Científicas do IPS – Edição 2026</dc:subject>
  <dc:creator>Subcomissão Científica e Editorial – JTC IPS 2026</dc:creator>
  <cp:lastModifiedBy>carlos emiliano</cp:lastModifiedBy>
  <cp:revision>45</cp:revision>
  <dcterms:created xsi:type="dcterms:W3CDTF">2026-10-08T10:29:54Z</dcterms:created>
  <dcterms:modified xsi:type="dcterms:W3CDTF">2026-10-22T15:51:06Z</dcterms:modified>
</cp:coreProperties>
</file>